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566928"/>
            <a:ext cx="9875520" cy="4572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008080"/>
                </a:solidFill>
              </a:defRPr>
            </a:pPr>
            <a:r>
              <a:t>Scientific Peer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1299888" cy="107721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3200" b="1">
                <a:solidFill>
                  <a:srgbClr val="162236"/>
                </a:solidFill>
              </a:defRPr>
            </a:pPr>
            <a:r>
              <a:rPr dirty="0"/>
              <a:t>MDPO: Conditional Preference Optimization for Multimodal Large</a:t>
            </a:r>
            <a:endParaRPr lang="en-US" dirty="0"/>
          </a:p>
          <a:p>
            <a:pPr algn="l">
              <a:defRPr sz="3200" b="1">
                <a:solidFill>
                  <a:srgbClr val="162236"/>
                </a:solidFill>
              </a:defRPr>
            </a:pPr>
            <a:r>
              <a:rPr dirty="0"/>
              <a:t> 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04288"/>
            <a:ext cx="94183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500" b="0">
                <a:solidFill>
                  <a:srgbClr val="23272F"/>
                </a:solidFill>
              </a:defRPr>
            </a:pPr>
            <a:r>
              <a:t>Fei Wang, Wenxuan Zhou, James Y. Huang, Nan Xu, Sheng Zhang, Hoifung Poon, Muhao 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61488"/>
            <a:ext cx="914400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200" b="0">
                <a:solidFill>
                  <a:srgbClr val="69707A"/>
                </a:solidFill>
              </a:defRPr>
            </a:pPr>
            <a:r>
              <a:t>arXiv:2406.11839v2, October 2024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22191"/>
            <a:ext cx="1920240" cy="420624"/>
          </a:xfrm>
          <a:prstGeom prst="roundRect">
            <a:avLst/>
          </a:prstGeom>
          <a:solidFill>
            <a:srgbClr val="C2841C"/>
          </a:solidFill>
          <a:ln>
            <a:solidFill>
              <a:srgbClr val="C28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3877055"/>
            <a:ext cx="1920240" cy="34747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Verdict: Weak Accept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2" y="3529584"/>
            <a:ext cx="7909560" cy="1078992"/>
          </a:xfrm>
          <a:prstGeom prst="roundRect">
            <a:avLst/>
          </a:prstGeom>
          <a:solidFill>
            <a:srgbClr val="FFFFFF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07792" y="3529584"/>
            <a:ext cx="73152" cy="1078992"/>
          </a:xfrm>
          <a:prstGeom prst="rect">
            <a:avLst/>
          </a:prstGeom>
          <a:solidFill>
            <a:srgbClr val="008080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08960" y="3694176"/>
            <a:ext cx="756208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One-sentence 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4096511"/>
            <a:ext cx="7525512" cy="402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Standard multimodal DPO can learn text-only preference shortcuts; MDPO adds image-conditional preference learning to reduce hallucination.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800" b="0">
                <a:solidFill>
                  <a:srgbClr val="69707A"/>
                </a:solidFill>
              </a:defRPr>
            </a:pPr>
            <a:r>
              <a:t>MDPO paper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46520"/>
            <a:ext cx="822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defRPr sz="800" b="0">
                <a:solidFill>
                  <a:srgbClr val="69707A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3000" b="1">
                <a:solidFill>
                  <a:srgbClr val="162236"/>
                </a:solidFill>
              </a:defRPr>
            </a:pPr>
            <a:r>
              <a:t>Why This Paper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77824"/>
            <a:ext cx="104241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200" b="0">
                <a:solidFill>
                  <a:srgbClr val="69707A"/>
                </a:solidFill>
              </a:defRPr>
            </a:pPr>
            <a:r>
              <a:t>Multimodal alignment should be grounded in both image and language.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70432"/>
            <a:ext cx="1051560" cy="36576"/>
          </a:xfrm>
          <a:prstGeom prst="rect">
            <a:avLst/>
          </a:prstGeom>
          <a:solidFill>
            <a:srgbClr val="008080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85800" y="1508760"/>
            <a:ext cx="3429000" cy="3291840"/>
          </a:xfrm>
          <a:prstGeom prst="roundRect">
            <a:avLst/>
          </a:prstGeom>
          <a:solidFill>
            <a:srgbClr val="E0F4EE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508760"/>
            <a:ext cx="73152" cy="3291840"/>
          </a:xfrm>
          <a:prstGeom prst="rect">
            <a:avLst/>
          </a:prstGeom>
          <a:solidFill>
            <a:srgbClr val="238756"/>
          </a:solidFill>
          <a:ln>
            <a:solidFill>
              <a:srgbClr val="2387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86968" y="1673351"/>
            <a:ext cx="308152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Expected 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75688"/>
            <a:ext cx="3044952" cy="2615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Given an image, question, chosen response, and rejected response: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the model should prefer the answer that is correct for the image.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08760"/>
            <a:ext cx="3429000" cy="3291840"/>
          </a:xfrm>
          <a:prstGeom prst="roundRect">
            <a:avLst/>
          </a:prstGeom>
          <a:solidFill>
            <a:srgbClr val="FFF4E6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508760"/>
            <a:ext cx="73152" cy="3291840"/>
          </a:xfrm>
          <a:prstGeom prst="rect">
            <a:avLst/>
          </a:prstGeom>
          <a:solidFill>
            <a:srgbClr val="C2841C"/>
          </a:solidFill>
          <a:ln>
            <a:solidFill>
              <a:srgbClr val="C28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0288" y="1673351"/>
            <a:ext cx="308152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Observed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075688"/>
            <a:ext cx="3044952" cy="2615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The model may learn that one response simply sounds better.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The image condition becomes weak or ignored.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508760"/>
            <a:ext cx="3429000" cy="3291840"/>
          </a:xfrm>
          <a:prstGeom prst="roundRect">
            <a:avLst/>
          </a:prstGeom>
          <a:solidFill>
            <a:srgbClr val="FFEDED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508760"/>
            <a:ext cx="73152" cy="3291840"/>
          </a:xfrm>
          <a:prstGeom prst="rect">
            <a:avLst/>
          </a:prstGeom>
          <a:solidFill>
            <a:srgbClr val="B43A3A"/>
          </a:solidFill>
          <a:ln>
            <a:solidFill>
              <a:srgbClr val="B4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3608" y="1673351"/>
            <a:ext cx="308152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Consequence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075688"/>
            <a:ext cx="3044952" cy="2615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Preference optimization can increase fluent but visually unsupported answers.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This is directly tied to hallucination.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800" b="0">
                <a:solidFill>
                  <a:srgbClr val="69707A"/>
                </a:solidFill>
              </a:defRPr>
            </a:pPr>
            <a:r>
              <a:t>MDPO paper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446520"/>
            <a:ext cx="822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defRPr sz="800" b="0">
                <a:solidFill>
                  <a:srgbClr val="69707A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3000" b="1">
                <a:solidFill>
                  <a:srgbClr val="162236"/>
                </a:solidFill>
              </a:defRPr>
            </a:pPr>
            <a:r>
              <a:t>Core Diagnosis: Unconditional Preference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77824"/>
            <a:ext cx="104241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200" b="0">
                <a:solidFill>
                  <a:srgbClr val="69707A"/>
                </a:solidFill>
              </a:defRPr>
            </a:pPr>
            <a:r>
              <a:t>The most convincing part of the paper is the no-image control.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70432"/>
            <a:ext cx="1051560" cy="36576"/>
          </a:xfrm>
          <a:prstGeom prst="rect">
            <a:avLst/>
          </a:prstGeom>
          <a:solidFill>
            <a:srgbClr val="008080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2743200" cy="31089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defRPr sz="1600" b="1">
                <a:solidFill>
                  <a:srgbClr val="162236"/>
                </a:solidFill>
              </a:defRPr>
            </a:pPr>
            <a:r>
              <a:t>DPO with images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508760"/>
            <a:ext cx="2743200" cy="31089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defRPr sz="1600" b="1">
                <a:solidFill>
                  <a:srgbClr val="162236"/>
                </a:solidFill>
              </a:defRPr>
            </a:pPr>
            <a:r>
              <a:t>DPO without images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508760"/>
            <a:ext cx="2926080" cy="31089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defRPr sz="1600" b="1">
                <a:solidFill>
                  <a:srgbClr val="162236"/>
                </a:solidFill>
              </a:defRPr>
            </a:pPr>
            <a:r>
              <a:t>Similar MMHalBench score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2084831"/>
            <a:ext cx="2148840" cy="1143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387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34440" y="2331720"/>
            <a:ext cx="1965960" cy="6400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defRPr sz="1400" b="1">
                <a:solidFill>
                  <a:srgbClr val="23272F"/>
                </a:solidFill>
              </a:defRPr>
            </a:pPr>
            <a:r>
              <a:t>Image + Question</a:t>
            </a:r>
            <a:br/>
            <a:r>
              <a:t>Chosen vs. Rejected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2084831"/>
            <a:ext cx="2148840" cy="1143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28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74920" y="2331720"/>
            <a:ext cx="1965960" cy="6400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defRPr sz="1400" b="1">
                <a:solidFill>
                  <a:srgbClr val="23272F"/>
                </a:solidFill>
              </a:defRPr>
            </a:pPr>
            <a:r>
              <a:t>Question only</a:t>
            </a:r>
            <a:br/>
            <a:r>
              <a:t>Chosen vs. Rejected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41080" y="2084831"/>
            <a:ext cx="2148840" cy="1143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4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32519" y="2331720"/>
            <a:ext cx="1965960" cy="6400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defRPr sz="1400" b="1">
                <a:solidFill>
                  <a:srgbClr val="23272F"/>
                </a:solidFill>
              </a:defRPr>
            </a:pPr>
            <a:r>
              <a:t>Visual grounding</a:t>
            </a:r>
            <a:br/>
            <a:r>
              <a:t>not guaranteed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37560" y="2651760"/>
            <a:ext cx="1554480" cy="0"/>
          </a:xfrm>
          <a:prstGeom prst="line">
            <a:avLst/>
          </a:prstGeom>
          <a:ln w="19050">
            <a:solidFill>
              <a:srgbClr val="6970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178040" y="2651760"/>
            <a:ext cx="1371600" cy="0"/>
          </a:xfrm>
          <a:prstGeom prst="line">
            <a:avLst/>
          </a:prstGeom>
          <a:ln w="19050">
            <a:solidFill>
              <a:srgbClr val="6970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14400" y="4224528"/>
            <a:ext cx="10730053" cy="646331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</a:defRPr>
            </a:pPr>
            <a:r>
              <a:rPr dirty="0"/>
              <a:t>Reviewer take: this diagnostic is strong because it isolates the failure mode. If removing images barely hurts DPO, </a:t>
            </a:r>
            <a:endParaRPr lang="en-US" dirty="0"/>
          </a:p>
          <a:p>
            <a:pPr algn="l">
              <a:defRPr sz="1800" b="0">
                <a:solidFill>
                  <a:srgbClr val="23272F"/>
                </a:solidFill>
              </a:defRPr>
            </a:pPr>
            <a:r>
              <a:rPr dirty="0"/>
              <a:t>the objective is not reliably enforcing multimodal conditioning.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800" b="0">
                <a:solidFill>
                  <a:srgbClr val="69707A"/>
                </a:solidFill>
              </a:defRPr>
            </a:pPr>
            <a:r>
              <a:t>MDPO paper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446520"/>
            <a:ext cx="822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defRPr sz="800" b="0">
                <a:solidFill>
                  <a:srgbClr val="69707A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3000" b="1">
                <a:solidFill>
                  <a:srgbClr val="162236"/>
                </a:solidFill>
              </a:defRPr>
            </a:pPr>
            <a:r>
              <a:t>MDPO: What Changes?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77824"/>
            <a:ext cx="104241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200" b="0">
                <a:solidFill>
                  <a:srgbClr val="69707A"/>
                </a:solidFill>
              </a:defRPr>
            </a:pPr>
            <a:r>
              <a:t>The method adds two terms to standard multimodal DPO.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70432"/>
            <a:ext cx="1051560" cy="36576"/>
          </a:xfrm>
          <a:prstGeom prst="rect">
            <a:avLst/>
          </a:prstGeom>
          <a:solidFill>
            <a:srgbClr val="008080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7472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73152" cy="3291840"/>
          </a:xfrm>
          <a:prstGeom prst="rect">
            <a:avLst/>
          </a:prstGeom>
          <a:solidFill>
            <a:srgbClr val="285E96"/>
          </a:solidFill>
          <a:ln>
            <a:solidFill>
              <a:srgbClr val="285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73351"/>
            <a:ext cx="312724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1. Standard DPO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75688"/>
            <a:ext cx="3090672" cy="2615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Learns preference between chosen and rejected responses.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Risk: may rely on text-only priors.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474720" cy="3291840"/>
          </a:xfrm>
          <a:prstGeom prst="roundRect">
            <a:avLst/>
          </a:prstGeom>
          <a:solidFill>
            <a:srgbClr val="E0F4EE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34840" y="1508760"/>
            <a:ext cx="73152" cy="3291840"/>
          </a:xfrm>
          <a:prstGeom prst="rect">
            <a:avLst/>
          </a:prstGeom>
          <a:solidFill>
            <a:srgbClr val="008080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36007" y="1673351"/>
            <a:ext cx="312724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2. Conditional Preference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075688"/>
            <a:ext cx="3090672" cy="2615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Keeps question and response fixed.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Contrasts correct image with degraded image.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Forces visual evidence to matter.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508760"/>
            <a:ext cx="3474720" cy="3291840"/>
          </a:xfrm>
          <a:prstGeom prst="roundRect">
            <a:avLst/>
          </a:prstGeom>
          <a:solidFill>
            <a:srgbClr val="FFF4E6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38160" y="1508760"/>
            <a:ext cx="73152" cy="3291840"/>
          </a:xfrm>
          <a:prstGeom prst="rect">
            <a:avLst/>
          </a:prstGeom>
          <a:solidFill>
            <a:srgbClr val="C2841C"/>
          </a:solidFill>
          <a:ln>
            <a:solidFill>
              <a:srgbClr val="C28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39328" y="1673351"/>
            <a:ext cx="312724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3. Anchor Term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075688"/>
            <a:ext cx="3090672" cy="2615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Regularizes chosen-response reward.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Prevents relative preference learning from lowering good-response likelihood.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285232"/>
            <a:ext cx="10241280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defRPr sz="1700" b="1">
                <a:solidFill>
                  <a:srgbClr val="162236"/>
                </a:solidFill>
              </a:defRPr>
            </a:pPr>
            <a:r>
              <a:t>MDPO = multimodal DPO + image-conditional preference optimization + anchored preference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800" b="0">
                <a:solidFill>
                  <a:srgbClr val="69707A"/>
                </a:solidFill>
              </a:defRPr>
            </a:pPr>
            <a:r>
              <a:t>MDPO paper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46520"/>
            <a:ext cx="822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defRPr sz="800" b="0">
                <a:solidFill>
                  <a:srgbClr val="69707A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3000" b="1">
                <a:solidFill>
                  <a:srgbClr val="162236"/>
                </a:solidFill>
              </a:defRPr>
            </a:pPr>
            <a: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77824"/>
            <a:ext cx="104241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200" b="0">
                <a:solidFill>
                  <a:srgbClr val="69707A"/>
                </a:solidFill>
              </a:defRPr>
            </a:pPr>
            <a:r>
              <a:t>The evaluation is centered on hallucination reduction.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70432"/>
            <a:ext cx="1051560" cy="36576"/>
          </a:xfrm>
          <a:prstGeom prst="rect">
            <a:avLst/>
          </a:prstGeom>
          <a:solidFill>
            <a:srgbClr val="008080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77240" y="1444752"/>
            <a:ext cx="3246120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444752"/>
            <a:ext cx="73152" cy="3154680"/>
          </a:xfrm>
          <a:prstGeom prst="rect">
            <a:avLst/>
          </a:prstGeom>
          <a:solidFill>
            <a:srgbClr val="285E96"/>
          </a:solidFill>
          <a:ln>
            <a:solidFill>
              <a:srgbClr val="285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1609344"/>
            <a:ext cx="289864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011680"/>
            <a:ext cx="2862072" cy="2478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Bunny-v1.0-3B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LLaVA-v1.5-7B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LoRA training for DPO and MDPO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444752"/>
            <a:ext cx="3246120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480560" y="1444752"/>
            <a:ext cx="73152" cy="3154680"/>
          </a:xfrm>
          <a:prstGeom prst="rect">
            <a:avLst/>
          </a:prstGeom>
          <a:solidFill>
            <a:srgbClr val="008080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1728" y="1609344"/>
            <a:ext cx="289864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Preference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011680"/>
            <a:ext cx="2862072" cy="2478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10K examples sampled from Silkie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Same data and hyperparameters for DPO and MDPO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444752"/>
            <a:ext cx="3246120" cy="3154680"/>
          </a:xfrm>
          <a:prstGeom prst="roundRect">
            <a:avLst/>
          </a:prstGeom>
          <a:solidFill>
            <a:srgbClr val="FFFFFF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83879" y="1444752"/>
            <a:ext cx="73152" cy="3154680"/>
          </a:xfrm>
          <a:prstGeom prst="rect">
            <a:avLst/>
          </a:prstGeom>
          <a:solidFill>
            <a:srgbClr val="C2841C"/>
          </a:solidFill>
          <a:ln>
            <a:solidFill>
              <a:srgbClr val="C28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85048" y="1609344"/>
            <a:ext cx="289864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Benchmarks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011680"/>
            <a:ext cx="2862072" cy="2478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MMHalBench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Object HalBench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AMBER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Human pairwise 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93792"/>
            <a:ext cx="10241280" cy="438912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defRPr sz="1600" b="0">
                <a:solidFill>
                  <a:srgbClr val="23272F"/>
                </a:solidFill>
              </a:defRPr>
            </a:pPr>
            <a:r>
              <a:t>Reviewer note: the comparison to standard DPO is clean because the training setup is controlled; comparisons to other systems are less direct.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800" b="0">
                <a:solidFill>
                  <a:srgbClr val="69707A"/>
                </a:solidFill>
              </a:defRPr>
            </a:pPr>
            <a:r>
              <a:t>MDPO paper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46520"/>
            <a:ext cx="822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defRPr sz="800" b="0">
                <a:solidFill>
                  <a:srgbClr val="69707A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3000" b="1">
                <a:solidFill>
                  <a:srgbClr val="162236"/>
                </a:solidFill>
              </a:defRPr>
            </a:pPr>
            <a:r>
              <a:t>Main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77824"/>
            <a:ext cx="104241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200" b="0">
                <a:solidFill>
                  <a:srgbClr val="69707A"/>
                </a:solidFill>
              </a:defRPr>
            </a:pPr>
            <a:r>
              <a:t>MDPO improves hallucination metrics over standard DPO.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70432"/>
            <a:ext cx="1051560" cy="36576"/>
          </a:xfrm>
          <a:prstGeom prst="rect">
            <a:avLst/>
          </a:prstGeom>
          <a:solidFill>
            <a:srgbClr val="008080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554480"/>
          <a:ext cx="80924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Model / Method</a:t>
                      </a:r>
                    </a:p>
                  </a:txBody>
                  <a:tcPr marL="45720" marR="4572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MMHal Score</a:t>
                      </a:r>
                    </a:p>
                  </a:txBody>
                  <a:tcPr marL="45720" marR="4572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MMHal HalRate</a:t>
                      </a:r>
                    </a:p>
                  </a:txBody>
                  <a:tcPr marL="45720" marR="4572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Object CHAIRs</a:t>
                      </a:r>
                    </a:p>
                  </a:txBody>
                  <a:tcPr marL="45720" marR="45720">
                    <a:solidFill>
                      <a:srgbClr val="1622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AMBER HalRate</a:t>
                      </a:r>
                    </a:p>
                  </a:txBody>
                  <a:tcPr marL="45720" marR="45720">
                    <a:solidFill>
                      <a:srgbClr val="1622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3272F"/>
                          </a:solidFill>
                        </a:defRPr>
                      </a:pPr>
                      <a:r>
                        <a:t>Bunny + DPO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3272F"/>
                          </a:solidFill>
                        </a:defRPr>
                      </a:pPr>
                      <a:r>
                        <a:t>2.28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3272F"/>
                          </a:solidFill>
                        </a:defRPr>
                      </a:pPr>
                      <a:r>
                        <a:t>0.56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3272F"/>
                          </a:solidFill>
                        </a:defRPr>
                      </a:pPr>
                      <a:r>
                        <a:t>44.3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3272F"/>
                          </a:solidFill>
                        </a:defRPr>
                      </a:pPr>
                      <a:r>
                        <a:t>58.9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3272F"/>
                          </a:solidFill>
                        </a:defRPr>
                      </a:pPr>
                      <a:r>
                        <a:t>Bunny + MDPO</a:t>
                      </a:r>
                    </a:p>
                  </a:txBody>
                  <a:tcPr marL="45720" marR="45720">
                    <a:solidFill>
                      <a:srgbClr val="E0F4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3272F"/>
                          </a:solidFill>
                        </a:defRPr>
                      </a:pPr>
                      <a:r>
                        <a:t>2.96</a:t>
                      </a:r>
                    </a:p>
                  </a:txBody>
                  <a:tcPr marL="45720" marR="45720">
                    <a:solidFill>
                      <a:srgbClr val="E0F4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3272F"/>
                          </a:solidFill>
                        </a:defRPr>
                      </a:pPr>
                      <a:r>
                        <a:t>0.42</a:t>
                      </a:r>
                    </a:p>
                  </a:txBody>
                  <a:tcPr marL="45720" marR="45720">
                    <a:solidFill>
                      <a:srgbClr val="E0F4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3272F"/>
                          </a:solidFill>
                        </a:defRPr>
                      </a:pPr>
                      <a:r>
                        <a:t>27.0</a:t>
                      </a:r>
                    </a:p>
                  </a:txBody>
                  <a:tcPr marL="45720" marR="45720">
                    <a:solidFill>
                      <a:srgbClr val="E0F4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3272F"/>
                          </a:solidFill>
                        </a:defRPr>
                      </a:pPr>
                      <a:r>
                        <a:t>37.7</a:t>
                      </a:r>
                    </a:p>
                  </a:txBody>
                  <a:tcPr marL="45720" marR="45720">
                    <a:solidFill>
                      <a:srgbClr val="E0F4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3272F"/>
                          </a:solidFill>
                        </a:defRPr>
                      </a:pPr>
                      <a:r>
                        <a:t>LLaVA + DPO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3272F"/>
                          </a:solidFill>
                        </a:defRPr>
                      </a:pPr>
                      <a:r>
                        <a:t>2.14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3272F"/>
                          </a:solidFill>
                        </a:defRPr>
                      </a:pPr>
                      <a:r>
                        <a:t>0.65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3272F"/>
                          </a:solidFill>
                        </a:defRPr>
                      </a:pPr>
                      <a:r>
                        <a:t>49.0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3272F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45720" marR="4572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3272F"/>
                          </a:solidFill>
                        </a:defRPr>
                      </a:pPr>
                      <a:r>
                        <a:t>LLaVA + MDPO</a:t>
                      </a:r>
                    </a:p>
                  </a:txBody>
                  <a:tcPr marL="45720" marR="45720">
                    <a:solidFill>
                      <a:srgbClr val="E0F4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3272F"/>
                          </a:solidFill>
                        </a:defRPr>
                      </a:pPr>
                      <a:r>
                        <a:t>2.39</a:t>
                      </a:r>
                    </a:p>
                  </a:txBody>
                  <a:tcPr marL="45720" marR="45720">
                    <a:solidFill>
                      <a:srgbClr val="E0F4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3272F"/>
                          </a:solidFill>
                        </a:defRPr>
                      </a:pPr>
                      <a:r>
                        <a:t>0.54</a:t>
                      </a:r>
                    </a:p>
                  </a:txBody>
                  <a:tcPr marL="45720" marR="45720">
                    <a:solidFill>
                      <a:srgbClr val="E0F4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3272F"/>
                          </a:solidFill>
                        </a:defRPr>
                      </a:pPr>
                      <a:r>
                        <a:t>35.7</a:t>
                      </a:r>
                    </a:p>
                  </a:txBody>
                  <a:tcPr marL="45720" marR="45720">
                    <a:solidFill>
                      <a:srgbClr val="E0F4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3272F"/>
                          </a:solidFill>
                        </a:defRPr>
                      </a:pPr>
                      <a:r>
                        <a:t>24.5</a:t>
                      </a:r>
                    </a:p>
                  </a:txBody>
                  <a:tcPr marL="45720" marR="45720">
                    <a:solidFill>
                      <a:srgbClr val="E0F4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224528"/>
            <a:ext cx="4983480" cy="1143000"/>
          </a:xfrm>
          <a:prstGeom prst="roundRect">
            <a:avLst/>
          </a:prstGeom>
          <a:solidFill>
            <a:srgbClr val="E0F4EE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4224528"/>
            <a:ext cx="73152" cy="1143000"/>
          </a:xfrm>
          <a:prstGeom prst="rect">
            <a:avLst/>
          </a:prstGeom>
          <a:solidFill>
            <a:srgbClr val="238756"/>
          </a:solidFill>
          <a:ln>
            <a:solidFill>
              <a:srgbClr val="2387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4389120"/>
            <a:ext cx="463600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791456"/>
            <a:ext cx="459943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The strongest evidence is hallucination reduction across both model families.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224528"/>
            <a:ext cx="4983480" cy="1143000"/>
          </a:xfrm>
          <a:prstGeom prst="roundRect">
            <a:avLst/>
          </a:prstGeom>
          <a:solidFill>
            <a:srgbClr val="FFF4E6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4224528"/>
            <a:ext cx="73152" cy="1143000"/>
          </a:xfrm>
          <a:prstGeom prst="rect">
            <a:avLst/>
          </a:prstGeom>
          <a:solidFill>
            <a:srgbClr val="C2841C"/>
          </a:solidFill>
          <a:ln>
            <a:solidFill>
              <a:srgbClr val="C28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73368" y="4389120"/>
            <a:ext cx="463600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Caution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4791456"/>
            <a:ext cx="459943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The paper should show whether the gains generalize beyond hallucination-focused tests.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800" b="0">
                <a:solidFill>
                  <a:srgbClr val="69707A"/>
                </a:solidFill>
              </a:defRPr>
            </a:pPr>
            <a:r>
              <a:t>MDPO paper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446520"/>
            <a:ext cx="822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defRPr sz="800" b="0">
                <a:solidFill>
                  <a:srgbClr val="69707A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3000" b="1">
                <a:solidFill>
                  <a:srgbClr val="162236"/>
                </a:solidFill>
              </a:defRPr>
            </a:pPr>
            <a:r>
              <a:t>Reviewer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77824"/>
            <a:ext cx="104241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200" b="0">
                <a:solidFill>
                  <a:srgbClr val="69707A"/>
                </a:solidFill>
              </a:defRPr>
            </a:pPr>
            <a:r>
              <a:t>Strengths and weaknesses.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70432"/>
            <a:ext cx="1051560" cy="36576"/>
          </a:xfrm>
          <a:prstGeom prst="rect">
            <a:avLst/>
          </a:prstGeom>
          <a:solidFill>
            <a:srgbClr val="008080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5074920" cy="4206240"/>
          </a:xfrm>
          <a:prstGeom prst="roundRect">
            <a:avLst/>
          </a:prstGeom>
          <a:solidFill>
            <a:srgbClr val="E0F4EE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417320"/>
            <a:ext cx="73152" cy="4206240"/>
          </a:xfrm>
          <a:prstGeom prst="rect">
            <a:avLst/>
          </a:prstGeom>
          <a:solidFill>
            <a:srgbClr val="238756"/>
          </a:solidFill>
          <a:ln>
            <a:solidFill>
              <a:srgbClr val="2387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1581912"/>
            <a:ext cx="472744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Strengths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984248"/>
            <a:ext cx="4690872" cy="352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Clear failure-mode diagnosis.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No-image DPO control is persuasive.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Method directly follows from the diagnosis.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Ablations show conditional preference is crucial.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Human evaluation supports automatic metrics.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17320"/>
            <a:ext cx="5074920" cy="4206240"/>
          </a:xfrm>
          <a:prstGeom prst="roundRect">
            <a:avLst/>
          </a:prstGeom>
          <a:solidFill>
            <a:srgbClr val="FFEDED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73152" cy="4206240"/>
          </a:xfrm>
          <a:prstGeom prst="rect">
            <a:avLst/>
          </a:prstGeom>
          <a:solidFill>
            <a:srgbClr val="B43A3A"/>
          </a:solidFill>
          <a:ln>
            <a:solidFill>
              <a:srgbClr val="B4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10528" y="1581912"/>
            <a:ext cx="472744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Weaknesses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1984248"/>
            <a:ext cx="4690872" cy="3529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Evaluation is concentrated on hallucination.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Rejected-image construction may be brittle.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Only two base model families are tested.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Compute overhead and seed robustness are under-discussed.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Little evidence for multilingual multimodal settings.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800" b="0">
                <a:solidFill>
                  <a:srgbClr val="69707A"/>
                </a:solidFill>
              </a:defRPr>
            </a:pPr>
            <a:r>
              <a:t>MDPO paper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446520"/>
            <a:ext cx="822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defRPr sz="800" b="0">
                <a:solidFill>
                  <a:srgbClr val="69707A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789920" cy="5029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3000" b="1">
                <a:solidFill>
                  <a:srgbClr val="162236"/>
                </a:solidFill>
              </a:defRPr>
            </a:pPr>
            <a:r>
              <a:t>Verdict and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77824"/>
            <a:ext cx="104241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200" b="0">
                <a:solidFill>
                  <a:srgbClr val="69707A"/>
                </a:solidFill>
              </a:defRPr>
            </a:pPr>
            <a:r>
              <a:t>Recommendation: Weak Accept.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170432"/>
            <a:ext cx="1051560" cy="36576"/>
          </a:xfrm>
          <a:prstGeom prst="rect">
            <a:avLst/>
          </a:prstGeom>
          <a:solidFill>
            <a:srgbClr val="008080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68680" y="1481328"/>
            <a:ext cx="2057400" cy="475488"/>
          </a:xfrm>
          <a:prstGeom prst="roundRect">
            <a:avLst/>
          </a:prstGeom>
          <a:solidFill>
            <a:srgbClr val="C2841C"/>
          </a:solidFill>
          <a:ln>
            <a:solidFill>
              <a:srgbClr val="C28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536192"/>
            <a:ext cx="2057400" cy="40233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Weak Accept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10869194" cy="70788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2000" b="1">
                <a:solidFill>
                  <a:srgbClr val="162236"/>
                </a:solidFill>
              </a:defRPr>
            </a:pPr>
            <a:r>
              <a:rPr dirty="0"/>
              <a:t>This is a meaningful contribution: it identifies a real pitfall in multimodal DPO and proposes a simple, </a:t>
            </a:r>
            <a:endParaRPr lang="en-US" dirty="0"/>
          </a:p>
          <a:p>
            <a:pPr algn="l">
              <a:defRPr sz="2000" b="1">
                <a:solidFill>
                  <a:srgbClr val="162236"/>
                </a:solidFill>
              </a:defRPr>
            </a:pPr>
            <a:r>
              <a:rPr dirty="0"/>
              <a:t>effective correction.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218688"/>
            <a:ext cx="3291840" cy="1417320"/>
          </a:xfrm>
          <a:prstGeom prst="roundRect">
            <a:avLst/>
          </a:prstGeom>
          <a:solidFill>
            <a:srgbClr val="E0F4EE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14400" y="3218688"/>
            <a:ext cx="73152" cy="1417320"/>
          </a:xfrm>
          <a:prstGeom prst="rect">
            <a:avLst/>
          </a:prstGeom>
          <a:solidFill>
            <a:srgbClr val="238756"/>
          </a:solidFill>
          <a:ln>
            <a:solidFill>
              <a:srgbClr val="2387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15568" y="3383280"/>
            <a:ext cx="294436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Why accept?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785615"/>
            <a:ext cx="2907792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Important problem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Good diagnostic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Useful ablations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3218688"/>
            <a:ext cx="3291840" cy="1417320"/>
          </a:xfrm>
          <a:prstGeom prst="roundRect">
            <a:avLst/>
          </a:prstGeom>
          <a:solidFill>
            <a:srgbClr val="FFF4E6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80560" y="3218688"/>
            <a:ext cx="73152" cy="1417320"/>
          </a:xfrm>
          <a:prstGeom prst="rect">
            <a:avLst/>
          </a:prstGeom>
          <a:solidFill>
            <a:srgbClr val="C2841C"/>
          </a:solidFill>
          <a:ln>
            <a:solidFill>
              <a:srgbClr val="C284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81728" y="3383280"/>
            <a:ext cx="294436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Why not strong accept?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785615"/>
            <a:ext cx="2907792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Narrow benchmark focus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Limited model coverage</a:t>
            </a:r>
          </a:p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More robustness needed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218688"/>
            <a:ext cx="32918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A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46720" y="3218688"/>
            <a:ext cx="73152" cy="1417320"/>
          </a:xfrm>
          <a:prstGeom prst="rect">
            <a:avLst/>
          </a:prstGeom>
          <a:solidFill>
            <a:srgbClr val="285E96"/>
          </a:solidFill>
          <a:ln>
            <a:solidFill>
              <a:srgbClr val="285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47888" y="3383280"/>
            <a:ext cx="2944368" cy="2926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1600" b="1">
                <a:solidFill>
                  <a:srgbClr val="162236"/>
                </a:solidFill>
              </a:defRPr>
            </a:pPr>
            <a:r>
              <a:t>Future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3785615"/>
            <a:ext cx="2907792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23272F"/>
                </a:solidFill>
              </a:defRPr>
            </a:pPr>
            <a:r>
              <a:t>Does unconditional preference also affect non-English multimodal prompts?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>
              <a:defRPr sz="800" b="0">
                <a:solidFill>
                  <a:srgbClr val="69707A"/>
                </a:solidFill>
              </a:defRPr>
            </a:pPr>
            <a:r>
              <a:t>MDPO paper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46520"/>
            <a:ext cx="822960" cy="2286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r">
              <a:defRPr sz="800" b="0">
                <a:solidFill>
                  <a:srgbClr val="69707A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623</Words>
  <Application>Microsoft Office PowerPoint</Application>
  <PresentationFormat>Widescreen</PresentationFormat>
  <Paragraphs>133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Niaz Tahi</cp:lastModifiedBy>
  <cp:revision>2</cp:revision>
  <dcterms:created xsi:type="dcterms:W3CDTF">2013-01-27T09:14:16Z</dcterms:created>
  <dcterms:modified xsi:type="dcterms:W3CDTF">2026-07-08T12:10:17Z</dcterms:modified>
  <cp:category/>
</cp:coreProperties>
</file>