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987552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600" b="1">
                <a:solidFill>
                  <a:srgbClr val="008080"/>
                </a:solidFill>
              </a:defRPr>
            </a:pPr>
            <a:r>
              <a:t>Scientific Peer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9692640" cy="9144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3200" b="1">
                <a:solidFill>
                  <a:srgbClr val="162236"/>
                </a:solidFill>
              </a:defRPr>
            </a:pPr>
            <a:r>
              <a:t>MDPO: Conditional Preference Optimization for Multimodal Large Language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304288"/>
            <a:ext cx="94183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0">
                <a:solidFill>
                  <a:srgbClr val="23272F"/>
                </a:solidFill>
              </a:defRPr>
            </a:pPr>
            <a:r>
              <a:t>Fei Wang, Wenxuan Zhou, James Y. Huang, Nan Xu, Sheng Zhang, Hoifung Poon, Muhao Chen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61488"/>
            <a:ext cx="91440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200" b="0">
                <a:solidFill>
                  <a:srgbClr val="69707A"/>
                </a:solidFill>
              </a:defRPr>
            </a:pPr>
            <a:r>
              <a:t>arXiv:2406.11839v2, October 2024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822191"/>
            <a:ext cx="1920240" cy="420624"/>
          </a:xfrm>
          <a:prstGeom prst="roundRect">
            <a:avLst/>
          </a:prstGeom>
          <a:solidFill>
            <a:srgbClr val="C2841C"/>
          </a:solidFill>
          <a:ln>
            <a:solidFill>
              <a:srgbClr val="C28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877055"/>
            <a:ext cx="192024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Verdict: Weak Accept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2" y="3529584"/>
            <a:ext cx="79095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07792" y="3529584"/>
            <a:ext cx="73152" cy="1078992"/>
          </a:xfrm>
          <a:prstGeom prst="rect">
            <a:avLst/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3694176"/>
            <a:ext cx="756208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600" b="1">
                <a:solidFill>
                  <a:srgbClr val="162236"/>
                </a:solidFill>
              </a:defRPr>
            </a:pPr>
            <a:r>
              <a:t>One-sentence 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4096511"/>
            <a:ext cx="7525512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3272F"/>
                </a:solidFill>
              </a:defRPr>
            </a:pPr>
            <a:r>
              <a:t>Standard multimodal DPO can learn text-only preference shortcuts; MDPO adds image-conditional preference learning to reduce hallucination.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5029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800" b="0">
                <a:solidFill>
                  <a:srgbClr val="69707A"/>
                </a:solidFill>
              </a:defRPr>
            </a:pPr>
            <a:r>
              <a:t>MDPO paper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46520"/>
            <a:ext cx="8229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800" b="0">
                <a:solidFill>
                  <a:srgbClr val="69707A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3000" b="1">
                <a:solidFill>
                  <a:srgbClr val="162236"/>
                </a:solidFill>
              </a:defRPr>
            </a:pPr>
            <a:r>
              <a:t>Why This Paper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4241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200" b="0">
                <a:solidFill>
                  <a:srgbClr val="69707A"/>
                </a:solidFill>
              </a:defRPr>
            </a:pPr>
            <a:r>
              <a:t>Multimodal alignment should be grounded in both image and language.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1051560" cy="36576"/>
          </a:xfrm>
          <a:prstGeom prst="rect">
            <a:avLst/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429000" cy="3291840"/>
          </a:xfrm>
          <a:prstGeom prst="roundRect">
            <a:avLst/>
          </a:prstGeom>
          <a:solidFill>
            <a:srgbClr val="E0F4EE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73152" cy="3291840"/>
          </a:xfrm>
          <a:prstGeom prst="rect">
            <a:avLst/>
          </a:prstGeom>
          <a:solidFill>
            <a:srgbClr val="238756"/>
          </a:solidFill>
          <a:ln>
            <a:solidFill>
              <a:srgbClr val="23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73351"/>
            <a:ext cx="308152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600" b="1">
                <a:solidFill>
                  <a:srgbClr val="162236"/>
                </a:solidFill>
              </a:defRPr>
            </a:pPr>
            <a:r>
              <a:t>Expected behavior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75688"/>
            <a:ext cx="3044952" cy="2615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3272F"/>
                </a:solidFill>
              </a:defRPr>
            </a:pPr>
            <a:r>
              <a:t>Given an image, question, chosen response, and rejected response:</a:t>
            </a:r>
          </a:p>
          <a:p>
            <a:pPr>
              <a:spcAft>
                <a:spcPts val="900"/>
              </a:spcAft>
              <a:defRPr sz="1300">
                <a:solidFill>
                  <a:srgbClr val="23272F"/>
                </a:solidFill>
              </a:defRPr>
            </a:pPr>
            <a:r>
              <a:t>the model should prefer the answer that is correct for the image.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429000" cy="3291840"/>
          </a:xfrm>
          <a:prstGeom prst="roundRect">
            <a:avLst/>
          </a:prstGeom>
          <a:solidFill>
            <a:srgbClr val="FFF4E6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508760"/>
            <a:ext cx="73152" cy="3291840"/>
          </a:xfrm>
          <a:prstGeom prst="rect">
            <a:avLst/>
          </a:prstGeom>
          <a:solidFill>
            <a:srgbClr val="C2841C"/>
          </a:solidFill>
          <a:ln>
            <a:solidFill>
              <a:srgbClr val="C28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673351"/>
            <a:ext cx="308152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600" b="1">
                <a:solidFill>
                  <a:srgbClr val="162236"/>
                </a:solidFill>
              </a:defRPr>
            </a:pPr>
            <a:r>
              <a:t>Observed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075688"/>
            <a:ext cx="3044952" cy="2615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3272F"/>
                </a:solidFill>
              </a:defRPr>
            </a:pPr>
            <a:r>
              <a:t>The model may learn that one response simply sounds better.</a:t>
            </a:r>
          </a:p>
          <a:p>
            <a:pPr>
              <a:spcAft>
                <a:spcPts val="900"/>
              </a:spcAft>
              <a:defRPr sz="1300">
                <a:solidFill>
                  <a:srgbClr val="23272F"/>
                </a:solidFill>
              </a:defRPr>
            </a:pPr>
            <a:r>
              <a:t>The image condition becomes weak or ignored.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508760"/>
            <a:ext cx="3429000" cy="3291840"/>
          </a:xfrm>
          <a:prstGeom prst="roundRect">
            <a:avLst/>
          </a:prstGeom>
          <a:solidFill>
            <a:srgbClr val="FFEDED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508760"/>
            <a:ext cx="73152" cy="3291840"/>
          </a:xfrm>
          <a:prstGeom prst="rect">
            <a:avLst/>
          </a:prstGeom>
          <a:solidFill>
            <a:srgbClr val="B43A3A"/>
          </a:solidFill>
          <a:ln>
            <a:solidFill>
              <a:srgbClr val="B4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673351"/>
            <a:ext cx="308152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600" b="1">
                <a:solidFill>
                  <a:srgbClr val="162236"/>
                </a:solidFill>
              </a:defRPr>
            </a:pPr>
            <a:r>
              <a:t>Consequence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075688"/>
            <a:ext cx="3044952" cy="2615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3272F"/>
                </a:solidFill>
              </a:defRPr>
            </a:pPr>
            <a:r>
              <a:t>Preference optimization can increase fluent but visually unsupported answers.</a:t>
            </a:r>
          </a:p>
          <a:p>
            <a:pPr>
              <a:spcAft>
                <a:spcPts val="900"/>
              </a:spcAft>
              <a:defRPr sz="1300">
                <a:solidFill>
                  <a:srgbClr val="23272F"/>
                </a:solidFill>
              </a:defRPr>
            </a:pPr>
            <a:r>
              <a:t>This is directly tied to hallucination.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5029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800" b="0">
                <a:solidFill>
                  <a:srgbClr val="69707A"/>
                </a:solidFill>
              </a:defRPr>
            </a:pPr>
            <a:r>
              <a:t>MDPO paper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46520"/>
            <a:ext cx="8229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800" b="0">
                <a:solidFill>
                  <a:srgbClr val="69707A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3000" b="1">
                <a:solidFill>
                  <a:srgbClr val="162236"/>
                </a:solidFill>
              </a:defRPr>
            </a:pPr>
            <a:r>
              <a:t>Core Diagnosis: Unconditional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4241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200" b="0">
                <a:solidFill>
                  <a:srgbClr val="69707A"/>
                </a:solidFill>
              </a:defRPr>
            </a:pPr>
            <a:r>
              <a:t>The most convincing part of the paper is the no-image control.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1051560" cy="36576"/>
          </a:xfrm>
          <a:prstGeom prst="rect">
            <a:avLst/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2743200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600" b="1">
                <a:solidFill>
                  <a:srgbClr val="162236"/>
                </a:solidFill>
              </a:defRPr>
            </a:pPr>
            <a:r>
              <a:t>DPO with 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508760"/>
            <a:ext cx="2743200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600" b="1">
                <a:solidFill>
                  <a:srgbClr val="162236"/>
                </a:solidFill>
              </a:defRPr>
            </a:pPr>
            <a:r>
              <a:t>DPO without images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508760"/>
            <a:ext cx="2926080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600" b="1">
                <a:solidFill>
                  <a:srgbClr val="162236"/>
                </a:solidFill>
              </a:defRPr>
            </a:pPr>
            <a:r>
              <a:t>Similar MMHalBench 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2084831"/>
            <a:ext cx="2148840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331720"/>
            <a:ext cx="196596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400" b="1">
                <a:solidFill>
                  <a:srgbClr val="23272F"/>
                </a:solidFill>
              </a:defRPr>
            </a:pPr>
            <a:r>
              <a:t>Image + Question</a:t>
            </a:r>
            <a:br/>
            <a:r>
              <a:t>Chosen vs. Rejected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2084831"/>
            <a:ext cx="2148840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28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2331720"/>
            <a:ext cx="196596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400" b="1">
                <a:solidFill>
                  <a:srgbClr val="23272F"/>
                </a:solidFill>
              </a:defRPr>
            </a:pPr>
            <a:r>
              <a:t>Question only</a:t>
            </a:r>
            <a:br/>
            <a:r>
              <a:t>Chosen vs. Rejected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2084831"/>
            <a:ext cx="2148840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4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19" y="2331720"/>
            <a:ext cx="196596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400" b="1">
                <a:solidFill>
                  <a:srgbClr val="23272F"/>
                </a:solidFill>
              </a:defRPr>
            </a:pPr>
            <a:r>
              <a:t>Visual grounding</a:t>
            </a:r>
            <a:br/>
            <a:r>
              <a:t>not guaranteed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37560" y="2651760"/>
            <a:ext cx="1554480" cy="0"/>
          </a:xfrm>
          <a:prstGeom prst="line">
            <a:avLst/>
          </a:prstGeom>
          <a:ln w="19050">
            <a:solidFill>
              <a:srgbClr val="6970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78040" y="2651760"/>
            <a:ext cx="1371600" cy="0"/>
          </a:xfrm>
          <a:prstGeom prst="line">
            <a:avLst/>
          </a:prstGeom>
          <a:ln w="19050">
            <a:solidFill>
              <a:srgbClr val="6970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4224528"/>
            <a:ext cx="10424160" cy="7132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</a:defRPr>
            </a:pPr>
            <a:r>
              <a:t>Reviewer take: this diagnostic is strong because it isolates the failure mode. If removing images barely hurts DPO, the objective is not reliably enforcing multimodal conditioning.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5029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800" b="0">
                <a:solidFill>
                  <a:srgbClr val="69707A"/>
                </a:solidFill>
              </a:defRPr>
            </a:pPr>
            <a:r>
              <a:t>MDPO paper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46520"/>
            <a:ext cx="8229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800" b="0">
                <a:solidFill>
                  <a:srgbClr val="69707A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3000" b="1">
                <a:solidFill>
                  <a:srgbClr val="162236"/>
                </a:solidFill>
              </a:defRPr>
            </a:pPr>
            <a:r>
              <a:t>MDPO: What Changes?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4241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200" b="0">
                <a:solidFill>
                  <a:srgbClr val="69707A"/>
                </a:solidFill>
              </a:defRPr>
            </a:pPr>
            <a:r>
              <a:t>The method adds two terms to standard multimodal DPO.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1051560" cy="36576"/>
          </a:xfrm>
          <a:prstGeom prst="rect">
            <a:avLst/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4747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73152" cy="3291840"/>
          </a:xfrm>
          <a:prstGeom prst="rect">
            <a:avLst/>
          </a:prstGeom>
          <a:solidFill>
            <a:srgbClr val="285E96"/>
          </a:solidFill>
          <a:ln>
            <a:solidFill>
              <a:srgbClr val="285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73351"/>
            <a:ext cx="312724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600" b="1">
                <a:solidFill>
                  <a:srgbClr val="162236"/>
                </a:solidFill>
              </a:defRPr>
            </a:pPr>
            <a:r>
              <a:t>1. Standard DPO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75688"/>
            <a:ext cx="3090672" cy="2615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3272F"/>
                </a:solidFill>
              </a:defRPr>
            </a:pPr>
            <a:r>
              <a:t>Learns preference between chosen and rejected responses.</a:t>
            </a:r>
          </a:p>
          <a:p>
            <a:pPr>
              <a:spcAft>
                <a:spcPts val="900"/>
              </a:spcAft>
              <a:defRPr sz="1300">
                <a:solidFill>
                  <a:srgbClr val="23272F"/>
                </a:solidFill>
              </a:defRPr>
            </a:pPr>
            <a:r>
              <a:t>Risk: may rely on text-only priors.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474720" cy="3291840"/>
          </a:xfrm>
          <a:prstGeom prst="roundRect">
            <a:avLst/>
          </a:prstGeom>
          <a:solidFill>
            <a:srgbClr val="E0F4EE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508760"/>
            <a:ext cx="73152" cy="3291840"/>
          </a:xfrm>
          <a:prstGeom prst="rect">
            <a:avLst/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673351"/>
            <a:ext cx="312724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600" b="1">
                <a:solidFill>
                  <a:srgbClr val="162236"/>
                </a:solidFill>
              </a:defRPr>
            </a:pPr>
            <a:r>
              <a:t>2. Conditional Preference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075688"/>
            <a:ext cx="3090672" cy="2615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3272F"/>
                </a:solidFill>
              </a:defRPr>
            </a:pPr>
            <a:r>
              <a:t>Keeps question and response fixed.</a:t>
            </a:r>
          </a:p>
          <a:p>
            <a:pPr>
              <a:spcAft>
                <a:spcPts val="900"/>
              </a:spcAft>
              <a:defRPr sz="1300">
                <a:solidFill>
                  <a:srgbClr val="23272F"/>
                </a:solidFill>
              </a:defRPr>
            </a:pPr>
            <a:r>
              <a:t>Contrasts correct image with degraded image.</a:t>
            </a:r>
          </a:p>
          <a:p>
            <a:pPr>
              <a:spcAft>
                <a:spcPts val="900"/>
              </a:spcAft>
              <a:defRPr sz="1300">
                <a:solidFill>
                  <a:srgbClr val="23272F"/>
                </a:solidFill>
              </a:defRPr>
            </a:pPr>
            <a:r>
              <a:t>Forces visual evidence to matter.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508760"/>
            <a:ext cx="3474720" cy="3291840"/>
          </a:xfrm>
          <a:prstGeom prst="roundRect">
            <a:avLst/>
          </a:prstGeom>
          <a:solidFill>
            <a:srgbClr val="FFF4E6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508760"/>
            <a:ext cx="73152" cy="3291840"/>
          </a:xfrm>
          <a:prstGeom prst="rect">
            <a:avLst/>
          </a:prstGeom>
          <a:solidFill>
            <a:srgbClr val="C2841C"/>
          </a:solidFill>
          <a:ln>
            <a:solidFill>
              <a:srgbClr val="C28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673351"/>
            <a:ext cx="312724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600" b="1">
                <a:solidFill>
                  <a:srgbClr val="162236"/>
                </a:solidFill>
              </a:defRPr>
            </a:pPr>
            <a:r>
              <a:t>3. Anchor Term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075688"/>
            <a:ext cx="3090672" cy="2615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3272F"/>
                </a:solidFill>
              </a:defRPr>
            </a:pPr>
            <a:r>
              <a:t>Regularizes chosen-response reward.</a:t>
            </a:r>
          </a:p>
          <a:p>
            <a:pPr>
              <a:spcAft>
                <a:spcPts val="900"/>
              </a:spcAft>
              <a:defRPr sz="1300">
                <a:solidFill>
                  <a:srgbClr val="23272F"/>
                </a:solidFill>
              </a:defRPr>
            </a:pPr>
            <a:r>
              <a:t>Prevents relative preference learning from lowering good-response likelihood.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285232"/>
            <a:ext cx="1024128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700" b="1">
                <a:solidFill>
                  <a:srgbClr val="162236"/>
                </a:solidFill>
              </a:defRPr>
            </a:pPr>
            <a:r>
              <a:t>MDPO = multimodal DPO + image-conditional preference optimization + anchored preference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46520"/>
            <a:ext cx="5029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800" b="0">
                <a:solidFill>
                  <a:srgbClr val="69707A"/>
                </a:solidFill>
              </a:defRPr>
            </a:pPr>
            <a:r>
              <a:t>MDPO paper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8229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800" b="0">
                <a:solidFill>
                  <a:srgbClr val="69707A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3000" b="1">
                <a:solidFill>
                  <a:srgbClr val="162236"/>
                </a:solidFill>
              </a:defRPr>
            </a:pPr>
            <a:r>
              <a:t>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4241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200" b="0">
                <a:solidFill>
                  <a:srgbClr val="69707A"/>
                </a:solidFill>
              </a:defRPr>
            </a:pPr>
            <a:r>
              <a:t>The evaluation is centered on hallucination reduction.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1051560" cy="36576"/>
          </a:xfrm>
          <a:prstGeom prst="rect">
            <a:avLst/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444752"/>
            <a:ext cx="3246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44752"/>
            <a:ext cx="73152" cy="3154680"/>
          </a:xfrm>
          <a:prstGeom prst="rect">
            <a:avLst/>
          </a:prstGeom>
          <a:solidFill>
            <a:srgbClr val="285E96"/>
          </a:solidFill>
          <a:ln>
            <a:solidFill>
              <a:srgbClr val="285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609344"/>
            <a:ext cx="289864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600" b="1">
                <a:solidFill>
                  <a:srgbClr val="162236"/>
                </a:solidFill>
              </a:defRPr>
            </a:pPr>
            <a:r>
              <a:t>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011680"/>
            <a:ext cx="2862072" cy="2478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3272F"/>
                </a:solidFill>
              </a:defRPr>
            </a:pPr>
            <a:r>
              <a:t>Bunny-v1.0-3B</a:t>
            </a:r>
          </a:p>
          <a:p>
            <a:pPr>
              <a:spcAft>
                <a:spcPts val="900"/>
              </a:spcAft>
              <a:defRPr sz="1300">
                <a:solidFill>
                  <a:srgbClr val="23272F"/>
                </a:solidFill>
              </a:defRPr>
            </a:pPr>
            <a:r>
              <a:t>LLaVA-v1.5-7B</a:t>
            </a:r>
          </a:p>
          <a:p>
            <a:pPr>
              <a:spcAft>
                <a:spcPts val="900"/>
              </a:spcAft>
              <a:defRPr sz="1300">
                <a:solidFill>
                  <a:srgbClr val="23272F"/>
                </a:solidFill>
              </a:defRPr>
            </a:pPr>
            <a:r>
              <a:t>LoRA training for DPO and MDPO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44752"/>
            <a:ext cx="3246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444752"/>
            <a:ext cx="73152" cy="3154680"/>
          </a:xfrm>
          <a:prstGeom prst="rect">
            <a:avLst/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1609344"/>
            <a:ext cx="289864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600" b="1">
                <a:solidFill>
                  <a:srgbClr val="162236"/>
                </a:solidFill>
              </a:defRPr>
            </a:pPr>
            <a:r>
              <a:t>Preference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011680"/>
            <a:ext cx="2862072" cy="2478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3272F"/>
                </a:solidFill>
              </a:defRPr>
            </a:pPr>
            <a:r>
              <a:t>10K examples sampled from Silkie</a:t>
            </a:r>
          </a:p>
          <a:p>
            <a:pPr>
              <a:spcAft>
                <a:spcPts val="900"/>
              </a:spcAft>
              <a:defRPr sz="1300">
                <a:solidFill>
                  <a:srgbClr val="23272F"/>
                </a:solidFill>
              </a:defRPr>
            </a:pPr>
            <a:r>
              <a:t>Same data and hyperparameters for DPO and MDPO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44752"/>
            <a:ext cx="3246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444752"/>
            <a:ext cx="73152" cy="3154680"/>
          </a:xfrm>
          <a:prstGeom prst="rect">
            <a:avLst/>
          </a:prstGeom>
          <a:solidFill>
            <a:srgbClr val="C2841C"/>
          </a:solidFill>
          <a:ln>
            <a:solidFill>
              <a:srgbClr val="C28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609344"/>
            <a:ext cx="289864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600" b="1">
                <a:solidFill>
                  <a:srgbClr val="162236"/>
                </a:solidFill>
              </a:defRPr>
            </a:pPr>
            <a:r>
              <a:t>Benchmarks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011680"/>
            <a:ext cx="2862072" cy="2478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3272F"/>
                </a:solidFill>
              </a:defRPr>
            </a:pPr>
            <a:r>
              <a:t>MMHalBench</a:t>
            </a:r>
          </a:p>
          <a:p>
            <a:pPr>
              <a:spcAft>
                <a:spcPts val="900"/>
              </a:spcAft>
              <a:defRPr sz="1300">
                <a:solidFill>
                  <a:srgbClr val="23272F"/>
                </a:solidFill>
              </a:defRPr>
            </a:pPr>
            <a:r>
              <a:t>Object HalBench</a:t>
            </a:r>
          </a:p>
          <a:p>
            <a:pPr>
              <a:spcAft>
                <a:spcPts val="900"/>
              </a:spcAft>
              <a:defRPr sz="1300">
                <a:solidFill>
                  <a:srgbClr val="23272F"/>
                </a:solidFill>
              </a:defRPr>
            </a:pPr>
            <a:r>
              <a:t>AMBER</a:t>
            </a:r>
          </a:p>
          <a:p>
            <a:pPr>
              <a:spcAft>
                <a:spcPts val="900"/>
              </a:spcAft>
              <a:defRPr sz="1300">
                <a:solidFill>
                  <a:srgbClr val="23272F"/>
                </a:solidFill>
              </a:defRPr>
            </a:pPr>
            <a:r>
              <a:t>Human pairwise 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93792"/>
            <a:ext cx="1024128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600" b="0">
                <a:solidFill>
                  <a:srgbClr val="23272F"/>
                </a:solidFill>
              </a:defRPr>
            </a:pPr>
            <a:r>
              <a:t>Reviewer note: the comparison to standard DPO is clean because the training setup is controlled; comparisons to other systems are less direct.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46520"/>
            <a:ext cx="5029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800" b="0">
                <a:solidFill>
                  <a:srgbClr val="69707A"/>
                </a:solidFill>
              </a:defRPr>
            </a:pPr>
            <a:r>
              <a:t>MDPO paper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8229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800" b="0">
                <a:solidFill>
                  <a:srgbClr val="69707A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3000" b="1">
                <a:solidFill>
                  <a:srgbClr val="162236"/>
                </a:solidFill>
              </a:defRPr>
            </a:pPr>
            <a:r>
              <a:t>Main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4241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200" b="0">
                <a:solidFill>
                  <a:srgbClr val="69707A"/>
                </a:solidFill>
              </a:defRPr>
            </a:pPr>
            <a:r>
              <a:t>MDPO improves hallucination metrics over standard DPO.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1051560" cy="36576"/>
          </a:xfrm>
          <a:prstGeom prst="rect">
            <a:avLst/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554480"/>
          <a:ext cx="80924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1508760"/>
                <a:gridCol w="1508760"/>
                <a:gridCol w="1508760"/>
                <a:gridCol w="1508760"/>
              </a:tblGrid>
              <a:tr h="43891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Model / Method</a:t>
                      </a:r>
                    </a:p>
                  </a:txBody>
                  <a:tcPr marL="45720" marR="45720"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MMHal Score</a:t>
                      </a:r>
                    </a:p>
                  </a:txBody>
                  <a:tcPr marL="45720" marR="45720"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MMHal HalRate</a:t>
                      </a:r>
                    </a:p>
                  </a:txBody>
                  <a:tcPr marL="45720" marR="45720"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Object CHAIRs</a:t>
                      </a:r>
                    </a:p>
                  </a:txBody>
                  <a:tcPr marL="45720" marR="45720"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AMBER HalRate</a:t>
                      </a:r>
                    </a:p>
                  </a:txBody>
                  <a:tcPr marL="45720" marR="45720">
                    <a:solidFill>
                      <a:srgbClr val="16223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72F"/>
                          </a:solidFill>
                        </a:defRPr>
                      </a:pPr>
                      <a:r>
                        <a:t>Bunny + DPO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72F"/>
                          </a:solidFill>
                        </a:defRPr>
                      </a:pPr>
                      <a:r>
                        <a:t>2.28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72F"/>
                          </a:solidFill>
                        </a:defRPr>
                      </a:pPr>
                      <a:r>
                        <a:t>0.56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72F"/>
                          </a:solidFill>
                        </a:defRPr>
                      </a:pPr>
                      <a:r>
                        <a:t>44.3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72F"/>
                          </a:solidFill>
                        </a:defRPr>
                      </a:pPr>
                      <a:r>
                        <a:t>58.9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3272F"/>
                          </a:solidFill>
                        </a:defRPr>
                      </a:pPr>
                      <a:r>
                        <a:t>Bunny + MDPO</a:t>
                      </a:r>
                    </a:p>
                  </a:txBody>
                  <a:tcPr marL="45720" marR="45720">
                    <a:solidFill>
                      <a:srgbClr val="E0F4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3272F"/>
                          </a:solidFill>
                        </a:defRPr>
                      </a:pPr>
                      <a:r>
                        <a:t>2.96</a:t>
                      </a:r>
                    </a:p>
                  </a:txBody>
                  <a:tcPr marL="45720" marR="45720">
                    <a:solidFill>
                      <a:srgbClr val="E0F4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3272F"/>
                          </a:solidFill>
                        </a:defRPr>
                      </a:pPr>
                      <a:r>
                        <a:t>0.42</a:t>
                      </a:r>
                    </a:p>
                  </a:txBody>
                  <a:tcPr marL="45720" marR="45720">
                    <a:solidFill>
                      <a:srgbClr val="E0F4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3272F"/>
                          </a:solidFill>
                        </a:defRPr>
                      </a:pPr>
                      <a:r>
                        <a:t>27.0</a:t>
                      </a:r>
                    </a:p>
                  </a:txBody>
                  <a:tcPr marL="45720" marR="45720">
                    <a:solidFill>
                      <a:srgbClr val="E0F4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3272F"/>
                          </a:solidFill>
                        </a:defRPr>
                      </a:pPr>
                      <a:r>
                        <a:t>37.7</a:t>
                      </a:r>
                    </a:p>
                  </a:txBody>
                  <a:tcPr marL="45720" marR="45720">
                    <a:solidFill>
                      <a:srgbClr val="E0F4E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72F"/>
                          </a:solidFill>
                        </a:defRPr>
                      </a:pPr>
                      <a:r>
                        <a:t>LLaVA + DPO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72F"/>
                          </a:solidFill>
                        </a:defRPr>
                      </a:pPr>
                      <a:r>
                        <a:t>2.14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72F"/>
                          </a:solidFill>
                        </a:defRPr>
                      </a:pPr>
                      <a:r>
                        <a:t>0.65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72F"/>
                          </a:solidFill>
                        </a:defRPr>
                      </a:pPr>
                      <a:r>
                        <a:t>49.0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72F"/>
                          </a:solidFill>
                        </a:defRPr>
                      </a:pPr>
                      <a:r>
                        <a:t>34.5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3272F"/>
                          </a:solidFill>
                        </a:defRPr>
                      </a:pPr>
                      <a:r>
                        <a:t>LLaVA + MDPO</a:t>
                      </a:r>
                    </a:p>
                  </a:txBody>
                  <a:tcPr marL="45720" marR="45720">
                    <a:solidFill>
                      <a:srgbClr val="E0F4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3272F"/>
                          </a:solidFill>
                        </a:defRPr>
                      </a:pPr>
                      <a:r>
                        <a:t>2.39</a:t>
                      </a:r>
                    </a:p>
                  </a:txBody>
                  <a:tcPr marL="45720" marR="45720">
                    <a:solidFill>
                      <a:srgbClr val="E0F4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3272F"/>
                          </a:solidFill>
                        </a:defRPr>
                      </a:pPr>
                      <a:r>
                        <a:t>0.54</a:t>
                      </a:r>
                    </a:p>
                  </a:txBody>
                  <a:tcPr marL="45720" marR="45720">
                    <a:solidFill>
                      <a:srgbClr val="E0F4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3272F"/>
                          </a:solidFill>
                        </a:defRPr>
                      </a:pPr>
                      <a:r>
                        <a:t>35.7</a:t>
                      </a:r>
                    </a:p>
                  </a:txBody>
                  <a:tcPr marL="45720" marR="45720">
                    <a:solidFill>
                      <a:srgbClr val="E0F4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3272F"/>
                          </a:solidFill>
                        </a:defRPr>
                      </a:pPr>
                      <a:r>
                        <a:t>24.5</a:t>
                      </a:r>
                    </a:p>
                  </a:txBody>
                  <a:tcPr marL="45720" marR="45720">
                    <a:solidFill>
                      <a:srgbClr val="E0F4EE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14400" y="4224528"/>
            <a:ext cx="4983480" cy="1143000"/>
          </a:xfrm>
          <a:prstGeom prst="roundRect">
            <a:avLst/>
          </a:prstGeom>
          <a:solidFill>
            <a:srgbClr val="E0F4EE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4224528"/>
            <a:ext cx="73152" cy="1143000"/>
          </a:xfrm>
          <a:prstGeom prst="rect">
            <a:avLst/>
          </a:prstGeom>
          <a:solidFill>
            <a:srgbClr val="238756"/>
          </a:solidFill>
          <a:ln>
            <a:solidFill>
              <a:srgbClr val="23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4389120"/>
            <a:ext cx="463600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600" b="1">
                <a:solidFill>
                  <a:srgbClr val="162236"/>
                </a:solidFill>
              </a:defRPr>
            </a:pPr>
            <a:r>
              <a:t>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4791456"/>
            <a:ext cx="4599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3272F"/>
                </a:solidFill>
              </a:defRPr>
            </a:pPr>
            <a:r>
              <a:t>The strongest evidence is hallucination reduction across both model families.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224528"/>
            <a:ext cx="4983480" cy="1143000"/>
          </a:xfrm>
          <a:prstGeom prst="roundRect">
            <a:avLst/>
          </a:prstGeom>
          <a:solidFill>
            <a:srgbClr val="FFF4E6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4224528"/>
            <a:ext cx="73152" cy="1143000"/>
          </a:xfrm>
          <a:prstGeom prst="rect">
            <a:avLst/>
          </a:prstGeom>
          <a:solidFill>
            <a:srgbClr val="C2841C"/>
          </a:solidFill>
          <a:ln>
            <a:solidFill>
              <a:srgbClr val="C28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4389120"/>
            <a:ext cx="463600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600" b="1">
                <a:solidFill>
                  <a:srgbClr val="162236"/>
                </a:solidFill>
              </a:defRPr>
            </a:pPr>
            <a:r>
              <a:t>Caution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4791456"/>
            <a:ext cx="4599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3272F"/>
                </a:solidFill>
              </a:defRPr>
            </a:pPr>
            <a:r>
              <a:t>The paper should show whether the gains generalize beyond hallucination-focused tests.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5029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800" b="0">
                <a:solidFill>
                  <a:srgbClr val="69707A"/>
                </a:solidFill>
              </a:defRPr>
            </a:pPr>
            <a:r>
              <a:t>MDPO paper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8229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800" b="0">
                <a:solidFill>
                  <a:srgbClr val="69707A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3000" b="1">
                <a:solidFill>
                  <a:srgbClr val="162236"/>
                </a:solidFill>
              </a:defRPr>
            </a:pPr>
            <a:r>
              <a:t>Reviewer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4241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200" b="0">
                <a:solidFill>
                  <a:srgbClr val="69707A"/>
                </a:solidFill>
              </a:defRPr>
            </a:pPr>
            <a:r>
              <a:t>Strengths and weaknesses.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1051560" cy="36576"/>
          </a:xfrm>
          <a:prstGeom prst="rect">
            <a:avLst/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5074920" cy="4206240"/>
          </a:xfrm>
          <a:prstGeom prst="roundRect">
            <a:avLst/>
          </a:prstGeom>
          <a:solidFill>
            <a:srgbClr val="E0F4EE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206240"/>
          </a:xfrm>
          <a:prstGeom prst="rect">
            <a:avLst/>
          </a:prstGeom>
          <a:solidFill>
            <a:srgbClr val="238756"/>
          </a:solidFill>
          <a:ln>
            <a:solidFill>
              <a:srgbClr val="23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81912"/>
            <a:ext cx="472744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600" b="1">
                <a:solidFill>
                  <a:srgbClr val="162236"/>
                </a:solidFill>
              </a:defRPr>
            </a:pPr>
            <a:r>
              <a:t>Strengths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984248"/>
            <a:ext cx="4690872" cy="3529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3272F"/>
                </a:solidFill>
              </a:defRPr>
            </a:pPr>
            <a:r>
              <a:t>Clear failure-mode diagnosis.</a:t>
            </a:r>
          </a:p>
          <a:p>
            <a:pPr>
              <a:spcAft>
                <a:spcPts val="900"/>
              </a:spcAft>
              <a:defRPr sz="1300">
                <a:solidFill>
                  <a:srgbClr val="23272F"/>
                </a:solidFill>
              </a:defRPr>
            </a:pPr>
            <a:r>
              <a:t>No-image DPO control is persuasive.</a:t>
            </a:r>
          </a:p>
          <a:p>
            <a:pPr>
              <a:spcAft>
                <a:spcPts val="900"/>
              </a:spcAft>
              <a:defRPr sz="1300">
                <a:solidFill>
                  <a:srgbClr val="23272F"/>
                </a:solidFill>
              </a:defRPr>
            </a:pPr>
            <a:r>
              <a:t>Method directly follows from the diagnosis.</a:t>
            </a:r>
          </a:p>
          <a:p>
            <a:pPr>
              <a:spcAft>
                <a:spcPts val="900"/>
              </a:spcAft>
              <a:defRPr sz="1300">
                <a:solidFill>
                  <a:srgbClr val="23272F"/>
                </a:solidFill>
              </a:defRPr>
            </a:pPr>
            <a:r>
              <a:t>Ablations show conditional preference is crucial.</a:t>
            </a:r>
          </a:p>
          <a:p>
            <a:pPr>
              <a:spcAft>
                <a:spcPts val="900"/>
              </a:spcAft>
              <a:defRPr sz="1300">
                <a:solidFill>
                  <a:srgbClr val="23272F"/>
                </a:solidFill>
              </a:defRPr>
            </a:pPr>
            <a:r>
              <a:t>Human evaluation supports automatic metrics.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17320"/>
            <a:ext cx="5074920" cy="4206240"/>
          </a:xfrm>
          <a:prstGeom prst="roundRect">
            <a:avLst/>
          </a:prstGeom>
          <a:solidFill>
            <a:srgbClr val="FFEDED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73152" cy="4206240"/>
          </a:xfrm>
          <a:prstGeom prst="rect">
            <a:avLst/>
          </a:prstGeom>
          <a:solidFill>
            <a:srgbClr val="B43A3A"/>
          </a:solidFill>
          <a:ln>
            <a:solidFill>
              <a:srgbClr val="B4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581912"/>
            <a:ext cx="472744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600" b="1">
                <a:solidFill>
                  <a:srgbClr val="162236"/>
                </a:solidFill>
              </a:defRPr>
            </a:pPr>
            <a:r>
              <a:t>Weaknesses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1984248"/>
            <a:ext cx="4690872" cy="3529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3272F"/>
                </a:solidFill>
              </a:defRPr>
            </a:pPr>
            <a:r>
              <a:t>Evaluation is concentrated on hallucination.</a:t>
            </a:r>
          </a:p>
          <a:p>
            <a:pPr>
              <a:spcAft>
                <a:spcPts val="900"/>
              </a:spcAft>
              <a:defRPr sz="1300">
                <a:solidFill>
                  <a:srgbClr val="23272F"/>
                </a:solidFill>
              </a:defRPr>
            </a:pPr>
            <a:r>
              <a:t>Rejected-image construction may be brittle.</a:t>
            </a:r>
          </a:p>
          <a:p>
            <a:pPr>
              <a:spcAft>
                <a:spcPts val="900"/>
              </a:spcAft>
              <a:defRPr sz="1300">
                <a:solidFill>
                  <a:srgbClr val="23272F"/>
                </a:solidFill>
              </a:defRPr>
            </a:pPr>
            <a:r>
              <a:t>Only two base model families are tested.</a:t>
            </a:r>
          </a:p>
          <a:p>
            <a:pPr>
              <a:spcAft>
                <a:spcPts val="900"/>
              </a:spcAft>
              <a:defRPr sz="1300">
                <a:solidFill>
                  <a:srgbClr val="23272F"/>
                </a:solidFill>
              </a:defRPr>
            </a:pPr>
            <a:r>
              <a:t>Compute overhead and seed robustness are under-discussed.</a:t>
            </a:r>
          </a:p>
          <a:p>
            <a:pPr>
              <a:spcAft>
                <a:spcPts val="900"/>
              </a:spcAft>
              <a:defRPr sz="1300">
                <a:solidFill>
                  <a:srgbClr val="23272F"/>
                </a:solidFill>
              </a:defRPr>
            </a:pPr>
            <a:r>
              <a:t>Little evidence for multilingual multimodal settings.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5029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800" b="0">
                <a:solidFill>
                  <a:srgbClr val="69707A"/>
                </a:solidFill>
              </a:defRPr>
            </a:pPr>
            <a:r>
              <a:t>MDPO paper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46520"/>
            <a:ext cx="8229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800" b="0">
                <a:solidFill>
                  <a:srgbClr val="69707A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3000" b="1">
                <a:solidFill>
                  <a:srgbClr val="162236"/>
                </a:solidFill>
              </a:defRPr>
            </a:pPr>
            <a:r>
              <a:t>Verdict and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4241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200" b="0">
                <a:solidFill>
                  <a:srgbClr val="69707A"/>
                </a:solidFill>
              </a:defRPr>
            </a:pPr>
            <a:r>
              <a:t>Recommendation: Weak Accept.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1051560" cy="36576"/>
          </a:xfrm>
          <a:prstGeom prst="rect">
            <a:avLst/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481328"/>
            <a:ext cx="2057400" cy="475488"/>
          </a:xfrm>
          <a:prstGeom prst="roundRect">
            <a:avLst/>
          </a:prstGeom>
          <a:solidFill>
            <a:srgbClr val="C2841C"/>
          </a:solidFill>
          <a:ln>
            <a:solidFill>
              <a:srgbClr val="C28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36192"/>
            <a:ext cx="2057400" cy="40233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Weak Accept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76272"/>
            <a:ext cx="10424160" cy="6583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000" b="1">
                <a:solidFill>
                  <a:srgbClr val="162236"/>
                </a:solidFill>
              </a:defRPr>
            </a:pPr>
            <a:r>
              <a:t>This is a meaningful contribution: it identifies a real pitfall in multimodal DPO and proposes a simple, effective correction.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218688"/>
            <a:ext cx="3291840" cy="1417320"/>
          </a:xfrm>
          <a:prstGeom prst="roundRect">
            <a:avLst/>
          </a:prstGeom>
          <a:solidFill>
            <a:srgbClr val="E0F4EE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3218688"/>
            <a:ext cx="73152" cy="1417320"/>
          </a:xfrm>
          <a:prstGeom prst="rect">
            <a:avLst/>
          </a:prstGeom>
          <a:solidFill>
            <a:srgbClr val="238756"/>
          </a:solidFill>
          <a:ln>
            <a:solidFill>
              <a:srgbClr val="23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383280"/>
            <a:ext cx="294436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600" b="1">
                <a:solidFill>
                  <a:srgbClr val="162236"/>
                </a:solidFill>
              </a:defRPr>
            </a:pPr>
            <a:r>
              <a:t>Why accept?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785615"/>
            <a:ext cx="2907792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3272F"/>
                </a:solidFill>
              </a:defRPr>
            </a:pPr>
            <a:r>
              <a:t>Important problem</a:t>
            </a:r>
          </a:p>
          <a:p>
            <a:pPr>
              <a:spcAft>
                <a:spcPts val="900"/>
              </a:spcAft>
              <a:defRPr sz="1300">
                <a:solidFill>
                  <a:srgbClr val="23272F"/>
                </a:solidFill>
              </a:defRPr>
            </a:pPr>
            <a:r>
              <a:t>Good diagnostic</a:t>
            </a:r>
          </a:p>
          <a:p>
            <a:pPr>
              <a:spcAft>
                <a:spcPts val="900"/>
              </a:spcAft>
              <a:defRPr sz="1300">
                <a:solidFill>
                  <a:srgbClr val="23272F"/>
                </a:solidFill>
              </a:defRPr>
            </a:pPr>
            <a:r>
              <a:t>Useful ablations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3218688"/>
            <a:ext cx="3291840" cy="1417320"/>
          </a:xfrm>
          <a:prstGeom prst="roundRect">
            <a:avLst/>
          </a:prstGeom>
          <a:solidFill>
            <a:srgbClr val="FFF4E6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3218688"/>
            <a:ext cx="73152" cy="1417320"/>
          </a:xfrm>
          <a:prstGeom prst="rect">
            <a:avLst/>
          </a:prstGeom>
          <a:solidFill>
            <a:srgbClr val="C2841C"/>
          </a:solidFill>
          <a:ln>
            <a:solidFill>
              <a:srgbClr val="C28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3383280"/>
            <a:ext cx="294436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600" b="1">
                <a:solidFill>
                  <a:srgbClr val="162236"/>
                </a:solidFill>
              </a:defRPr>
            </a:pPr>
            <a:r>
              <a:t>Why not strong accept?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3785615"/>
            <a:ext cx="2907792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3272F"/>
                </a:solidFill>
              </a:defRPr>
            </a:pPr>
            <a:r>
              <a:t>Narrow benchmark focus</a:t>
            </a:r>
          </a:p>
          <a:p>
            <a:pPr>
              <a:spcAft>
                <a:spcPts val="900"/>
              </a:spcAft>
              <a:defRPr sz="1300">
                <a:solidFill>
                  <a:srgbClr val="23272F"/>
                </a:solidFill>
              </a:defRPr>
            </a:pPr>
            <a:r>
              <a:t>Limited model coverage</a:t>
            </a:r>
          </a:p>
          <a:p>
            <a:pPr>
              <a:spcAft>
                <a:spcPts val="900"/>
              </a:spcAft>
              <a:defRPr sz="1300">
                <a:solidFill>
                  <a:srgbClr val="23272F"/>
                </a:solidFill>
              </a:defRPr>
            </a:pPr>
            <a:r>
              <a:t>More robustness needed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218688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3218688"/>
            <a:ext cx="73152" cy="1417320"/>
          </a:xfrm>
          <a:prstGeom prst="rect">
            <a:avLst/>
          </a:prstGeom>
          <a:solidFill>
            <a:srgbClr val="285E96"/>
          </a:solidFill>
          <a:ln>
            <a:solidFill>
              <a:srgbClr val="285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3383280"/>
            <a:ext cx="294436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600" b="1">
                <a:solidFill>
                  <a:srgbClr val="162236"/>
                </a:solidFill>
              </a:defRPr>
            </a:pPr>
            <a:r>
              <a:t>Future 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3785615"/>
            <a:ext cx="2907792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3272F"/>
                </a:solidFill>
              </a:defRPr>
            </a:pPr>
            <a:r>
              <a:t>Does unconditional preference also affect non-English multimodal prompts?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5029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800" b="0">
                <a:solidFill>
                  <a:srgbClr val="69707A"/>
                </a:solidFill>
              </a:defRPr>
            </a:pPr>
            <a:r>
              <a:t>MDPO paper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46520"/>
            <a:ext cx="8229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800" b="0">
                <a:solidFill>
                  <a:srgbClr val="69707A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