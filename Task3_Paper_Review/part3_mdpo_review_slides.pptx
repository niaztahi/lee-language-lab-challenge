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8813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400">
                <a:solidFill>
                  <a:srgbClr val="1E2D46"/>
                </a:solidFill>
              </a:defRPr>
            </a:pPr>
            <a:r>
              <a:t>MDPO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4241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232323"/>
                </a:solidFill>
              </a:defRPr>
            </a:pPr>
            <a:r>
              <a:t>Scientific peer review of Wang et al. (arXiv:2406.11839v2)</a:t>
            </a:r>
          </a:p>
          <a:p>
            <a:pPr>
              <a:spcAft>
                <a:spcPts val="1400"/>
              </a:spcAft>
              <a:defRPr sz="2400">
                <a:solidFill>
                  <a:srgbClr val="232323"/>
                </a:solidFill>
              </a:defRPr>
            </a:pPr>
            <a:r>
              <a:t>Core claim: multimodal DPO may ignore the image condition.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6364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F5F5F"/>
                </a:solidFill>
              </a:defRPr>
            </a:pPr>
            <a:r>
              <a:t>MDPO paper review | Slide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8813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400">
                <a:solidFill>
                  <a:srgbClr val="1E2D46"/>
                </a:solidFill>
              </a:defRPr>
            </a:pPr>
            <a:r>
              <a:t>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4241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232323"/>
                </a:solidFill>
              </a:defRPr>
            </a:pPr>
            <a:r>
              <a:t>DPO aligns models using chosen and rejected responses.</a:t>
            </a:r>
          </a:p>
          <a:p>
            <a:pPr>
              <a:spcAft>
                <a:spcPts val="1400"/>
              </a:spcAft>
              <a:defRPr sz="2400">
                <a:solidFill>
                  <a:srgbClr val="232323"/>
                </a:solidFill>
              </a:defRPr>
            </a:pPr>
            <a:r>
              <a:t>In multimodal DPO, preferences should depend on both image and text.</a:t>
            </a:r>
          </a:p>
          <a:p>
            <a:pPr>
              <a:spcAft>
                <a:spcPts val="1400"/>
              </a:spcAft>
              <a:defRPr sz="2400">
                <a:solidFill>
                  <a:srgbClr val="232323"/>
                </a:solidFill>
              </a:defRPr>
            </a:pPr>
            <a:r>
              <a:t>Standard DPO can learn language-only shortcuts instead of visual grounding.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6364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F5F5F"/>
                </a:solidFill>
              </a:defRPr>
            </a:pPr>
            <a:r>
              <a:t>MDPO paper review | Slide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8813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400">
                <a:solidFill>
                  <a:srgbClr val="1E2D46"/>
                </a:solidFill>
              </a:defRPr>
            </a:pPr>
            <a:r>
              <a:t>Key Diagnosis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4241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232323"/>
                </a:solidFill>
              </a:defRPr>
            </a:pPr>
            <a:r>
              <a:t>DPO without images performs similarly to DPO with images on MMHalBench.</a:t>
            </a:r>
          </a:p>
          <a:p>
            <a:pPr>
              <a:spcAft>
                <a:spcPts val="1400"/>
              </a:spcAft>
              <a:defRPr sz="2400">
                <a:solidFill>
                  <a:srgbClr val="232323"/>
                </a:solidFill>
              </a:defRPr>
            </a:pPr>
            <a:r>
              <a:t>This reveals an unconditional preference problem.</a:t>
            </a:r>
          </a:p>
          <a:p>
            <a:pPr>
              <a:spcAft>
                <a:spcPts val="1400"/>
              </a:spcAft>
              <a:defRPr sz="2400">
                <a:solidFill>
                  <a:srgbClr val="232323"/>
                </a:solidFill>
              </a:defRPr>
            </a:pPr>
            <a:r>
              <a:t>The model may optimize response quality without using the visual input.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6364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F5F5F"/>
                </a:solidFill>
              </a:defRPr>
            </a:pPr>
            <a:r>
              <a:t>MDPO paper review | Slide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8813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400">
                <a:solidFill>
                  <a:srgbClr val="1E2D46"/>
                </a:solidFill>
              </a:defRPr>
            </a:pPr>
            <a:r>
              <a:t>MDPO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4241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232323"/>
                </a:solidFill>
              </a:defRPr>
            </a:pPr>
            <a:r>
              <a:t>Keep the standard multimodal DPO objective.</a:t>
            </a:r>
          </a:p>
          <a:p>
            <a:pPr>
              <a:spcAft>
                <a:spcPts val="1400"/>
              </a:spcAft>
              <a:defRPr sz="2400">
                <a:solidFill>
                  <a:srgbClr val="232323"/>
                </a:solidFill>
              </a:defRPr>
            </a:pPr>
            <a:r>
              <a:t>Add conditional preference optimization over image pairs.</a:t>
            </a:r>
          </a:p>
          <a:p>
            <a:pPr>
              <a:spcAft>
                <a:spcPts val="1400"/>
              </a:spcAft>
              <a:defRPr sz="2400">
                <a:solidFill>
                  <a:srgbClr val="232323"/>
                </a:solidFill>
              </a:defRPr>
            </a:pPr>
            <a:r>
              <a:t>Use cropped/degraded images as hard negatives.</a:t>
            </a:r>
          </a:p>
          <a:p>
            <a:pPr>
              <a:spcAft>
                <a:spcPts val="1400"/>
              </a:spcAft>
              <a:defRPr sz="2400">
                <a:solidFill>
                  <a:srgbClr val="232323"/>
                </a:solidFill>
              </a:defRPr>
            </a:pPr>
            <a:r>
              <a:t>Add anchored preference optimization for chosen responses.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6364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F5F5F"/>
                </a:solidFill>
              </a:defRPr>
            </a:pPr>
            <a:r>
              <a:t>MDPO paper review | Slide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8813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400">
                <a:solidFill>
                  <a:srgbClr val="1E2D46"/>
                </a:solidFill>
              </a:defRPr>
            </a:pPr>
            <a:r>
              <a:t>Key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4241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232323"/>
                </a:solidFill>
              </a:defRPr>
            </a:pPr>
            <a:r>
              <a:t>Evaluated on Bunny-v1.0-3B and LLaVA-v1.5-7B.</a:t>
            </a:r>
          </a:p>
          <a:p>
            <a:pPr>
              <a:spcAft>
                <a:spcPts val="1400"/>
              </a:spcAft>
              <a:defRPr sz="2400">
                <a:solidFill>
                  <a:srgbClr val="232323"/>
                </a:solidFill>
              </a:defRPr>
            </a:pPr>
            <a:r>
              <a:t>Benchmarks: MMHalBench, Object HalBench, and AMBER.</a:t>
            </a:r>
          </a:p>
          <a:p>
            <a:pPr>
              <a:spcAft>
                <a:spcPts val="1400"/>
              </a:spcAft>
              <a:defRPr sz="2400">
                <a:solidFill>
                  <a:srgbClr val="232323"/>
                </a:solidFill>
              </a:defRPr>
            </a:pPr>
            <a:r>
              <a:t>Bunny MMHalBench score improves from 2.28 with DPO to 2.96 with MDPO.</a:t>
            </a:r>
          </a:p>
          <a:p>
            <a:pPr>
              <a:spcAft>
                <a:spcPts val="1400"/>
              </a:spcAft>
              <a:defRPr sz="2400">
                <a:solidFill>
                  <a:srgbClr val="232323"/>
                </a:solidFill>
              </a:defRPr>
            </a:pPr>
            <a:r>
              <a:t>Bunny hallucination rate drops from 0.56 to 0.42.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6364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F5F5F"/>
                </a:solidFill>
              </a:defRPr>
            </a:pPr>
            <a:r>
              <a:t>MDPO paper review | Slide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8813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400">
                <a:solidFill>
                  <a:srgbClr val="1E2D46"/>
                </a:solidFill>
              </a:defRPr>
            </a:pPr>
            <a:r>
              <a:t>Strengths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4241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232323"/>
                </a:solidFill>
              </a:defRPr>
            </a:pPr>
            <a:r>
              <a:t>Clear diagnosis through the no-image DPO experiment.</a:t>
            </a:r>
          </a:p>
          <a:p>
            <a:pPr>
              <a:spcAft>
                <a:spcPts val="1400"/>
              </a:spcAft>
              <a:defRPr sz="2400">
                <a:solidFill>
                  <a:srgbClr val="232323"/>
                </a:solidFill>
              </a:defRPr>
            </a:pPr>
            <a:r>
              <a:t>Simple method that directly targets the identified failure mode.</a:t>
            </a:r>
          </a:p>
          <a:p>
            <a:pPr>
              <a:spcAft>
                <a:spcPts val="1400"/>
              </a:spcAft>
              <a:defRPr sz="2400">
                <a:solidFill>
                  <a:srgbClr val="232323"/>
                </a:solidFill>
              </a:defRPr>
            </a:pPr>
            <a:r>
              <a:t>Ablations show conditional preference is the key component.</a:t>
            </a:r>
          </a:p>
          <a:p>
            <a:pPr>
              <a:spcAft>
                <a:spcPts val="1400"/>
              </a:spcAft>
              <a:defRPr sz="2400">
                <a:solidFill>
                  <a:srgbClr val="232323"/>
                </a:solidFill>
              </a:defRPr>
            </a:pPr>
            <a:r>
              <a:t>Broader implication for conditional preference learning.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6364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F5F5F"/>
                </a:solidFill>
              </a:defRPr>
            </a:pPr>
            <a:r>
              <a:t>MDPO paper review | Slide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8813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400">
                <a:solidFill>
                  <a:srgbClr val="1E2D46"/>
                </a:solidFill>
              </a:defRPr>
            </a:pPr>
            <a:r>
              <a:t>Weaknesses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4241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232323"/>
                </a:solidFill>
              </a:defRPr>
            </a:pPr>
            <a:r>
              <a:t>Evaluation mainly focuses on hallucination benchmarks.</a:t>
            </a:r>
          </a:p>
          <a:p>
            <a:pPr>
              <a:spcAft>
                <a:spcPts val="1400"/>
              </a:spcAft>
              <a:defRPr sz="2400">
                <a:solidFill>
                  <a:srgbClr val="232323"/>
                </a:solidFill>
              </a:defRPr>
            </a:pPr>
            <a:r>
              <a:t>Rejected-image construction may be image and task dependent.</a:t>
            </a:r>
          </a:p>
          <a:p>
            <a:pPr>
              <a:spcAft>
                <a:spcPts val="1400"/>
              </a:spcAft>
              <a:defRPr sz="2400">
                <a:solidFill>
                  <a:srgbClr val="232323"/>
                </a:solidFill>
              </a:defRPr>
            </a:pPr>
            <a:r>
              <a:t>Only two base model families are tested.</a:t>
            </a:r>
          </a:p>
          <a:p>
            <a:pPr>
              <a:spcAft>
                <a:spcPts val="1400"/>
              </a:spcAft>
              <a:defRPr sz="2400">
                <a:solidFill>
                  <a:srgbClr val="232323"/>
                </a:solidFill>
              </a:defRPr>
            </a:pPr>
            <a:r>
              <a:t>Compute overhead and seed robustness need more discussion.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6364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F5F5F"/>
                </a:solidFill>
              </a:defRPr>
            </a:pPr>
            <a:r>
              <a:t>MDPO paper review | Slide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8813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400">
                <a:solidFill>
                  <a:srgbClr val="1E2D46"/>
                </a:solidFill>
              </a:defRPr>
            </a:pPr>
            <a:r>
              <a:t>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4241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232323"/>
                </a:solidFill>
              </a:defRPr>
            </a:pPr>
            <a:r>
              <a:t>Weak Accept.</a:t>
            </a:r>
          </a:p>
          <a:p>
            <a:pPr>
              <a:spcAft>
                <a:spcPts val="1400"/>
              </a:spcAft>
              <a:defRPr sz="2400">
                <a:solidFill>
                  <a:srgbClr val="232323"/>
                </a:solidFill>
              </a:defRPr>
            </a:pPr>
            <a:r>
              <a:t>The paper identifies an important multimodal DPO failure mode.</a:t>
            </a:r>
          </a:p>
          <a:p>
            <a:pPr>
              <a:spcAft>
                <a:spcPts val="1400"/>
              </a:spcAft>
              <a:defRPr sz="2400">
                <a:solidFill>
                  <a:srgbClr val="232323"/>
                </a:solidFill>
              </a:defRPr>
            </a:pPr>
            <a:r>
              <a:t>MDPO is simple, effective, and supported by useful ablations.</a:t>
            </a:r>
          </a:p>
          <a:p>
            <a:pPr>
              <a:spcAft>
                <a:spcPts val="1400"/>
              </a:spcAft>
              <a:defRPr sz="2400">
                <a:solidFill>
                  <a:srgbClr val="232323"/>
                </a:solidFill>
              </a:defRPr>
            </a:pPr>
            <a:r>
              <a:t>A broader evaluation would make the contribution stronger.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6364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F5F5F"/>
                </a:solidFill>
              </a:defRPr>
            </a:pPr>
            <a:r>
              <a:t>MDPO paper review | Slide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